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88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08a22510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08a22510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08a225107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08a225107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08a225107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08a225107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98c5e28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098c5e28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98c5e284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098c5e284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98c5e284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098c5e284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98c5e284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98c5e284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98c5e284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98c5e284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098c5e284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098c5e284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98c5e284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98c5e284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098c5e284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098c5e284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098c5e284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098c5e284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098c5e284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098c5e284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13b8f5d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13b8f5d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13b8f5d3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13b8f5d3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13b8f5d3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13b8f5d3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13b8f5d3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13b8f5d3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13b8f5d3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13b8f5d3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13b8f5d3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13b8f5d30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13b8f5d30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13b8f5d30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13b8f5d3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13b8f5d30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13b8f5d30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13b8f5d30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13b8f5d30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13b8f5d30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13b8f5d3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13b8f5d3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13b8f5d30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13b8f5d30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13b8f5d30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b13b8f5d30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13b8f5d30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13b8f5d30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13b8f5d3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13b8f5d3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13b8f5d30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13b8f5d30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13b8f5d30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13b8f5d30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13b8f5d3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13b8f5d3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221825"/>
            <a:ext cx="8520600" cy="21639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B0F1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55963"/>
            <a:ext cx="8520600" cy="2163900"/>
          </a:xfrm>
          <a:prstGeom prst="rect">
            <a:avLst/>
          </a:prstGeom>
          <a:solidFill>
            <a:srgbClr val="0B0F1A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Understanding of Quantum Science and Technology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24700" y="2371217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solidFill>
                  <a:srgbClr val="A9A9A9"/>
                </a:solidFill>
              </a:rPr>
              <a:t>From Blackbody Radiation to Quantum Information</a:t>
            </a:r>
            <a:endParaRPr i="1">
              <a:solidFill>
                <a:srgbClr val="A9A9A9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494075" y="4339075"/>
            <a:ext cx="25047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A9A9A9"/>
                </a:solidFill>
              </a:rPr>
              <a:t>Utsav Jignesh Karia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A9A9A9"/>
                </a:solidFill>
              </a:rPr>
              <a:t>OVSRCS</a:t>
            </a:r>
            <a:endParaRPr sz="1800" dirty="0">
              <a:solidFill>
                <a:srgbClr val="A9A9A9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89375" y="3315172"/>
            <a:ext cx="80796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 dirty="0">
                <a:solidFill>
                  <a:srgbClr val="FFFFFF"/>
                </a:solidFill>
              </a:rPr>
              <a:t>“</a:t>
            </a:r>
            <a:r>
              <a:rPr lang="en-GB" sz="1700" b="1" dirty="0">
                <a:solidFill>
                  <a:srgbClr val="00FFFF"/>
                </a:solidFill>
              </a:rPr>
              <a:t>If you think you understand quantum mechanics, you don’t understand quantum mechanics.”</a:t>
            </a:r>
            <a:endParaRPr sz="1700" b="1" dirty="0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rgbClr val="00FFFF"/>
                </a:solidFill>
              </a:rPr>
              <a:t>— </a:t>
            </a:r>
            <a:r>
              <a:rPr lang="en-GB" sz="1700" i="1" dirty="0">
                <a:solidFill>
                  <a:srgbClr val="00FFFF"/>
                </a:solidFill>
              </a:rPr>
              <a:t>Richard P. Feynman</a:t>
            </a:r>
            <a:endParaRPr sz="2400" dirty="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75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Origin of Quantum Mechanics: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406750" y="569800"/>
            <a:ext cx="85206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Light emitted from light bulbs was measured at different temperatures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50" y="1004800"/>
            <a:ext cx="8142548" cy="36645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2646275" y="4669375"/>
            <a:ext cx="63288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i="1">
                <a:solidFill>
                  <a:schemeClr val="dk2"/>
                </a:solidFill>
              </a:rPr>
              <a:t>Physikalisch-Technische Reichsanstalt (PTR), Berlin</a:t>
            </a:r>
            <a:endParaRPr sz="18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chemeClr val="dk2"/>
                </a:solidFill>
              </a:rPr>
              <a:t>Experimental work: Lummer, Pringsheim, Rubens (1890s)</a:t>
            </a:r>
            <a:endParaRPr sz="1800"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Classical Theory of Black-Body Radiation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FF"/>
                </a:solidFill>
              </a:rPr>
              <a:t>Rayleigh–Jeans Law</a:t>
            </a:r>
            <a:endParaRPr sz="2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>
              <a:solidFill>
                <a:srgbClr val="FFFFFF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956513" y="1833675"/>
            <a:ext cx="3636600" cy="17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700" y="2168225"/>
            <a:ext cx="3334225" cy="9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93450" y="3757275"/>
            <a:ext cx="5394300" cy="1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Derived using classical electromagnetism</a:t>
            </a:r>
            <a:endParaRPr sz="1500">
              <a:solidFill>
                <a:schemeClr val="lt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Assumes energy is </a:t>
            </a:r>
            <a:r>
              <a:rPr lang="en-GB" sz="1500" b="1">
                <a:solidFill>
                  <a:schemeClr val="lt1"/>
                </a:solidFill>
              </a:rPr>
              <a:t>continuous</a:t>
            </a:r>
            <a:endParaRPr sz="1500" b="1">
              <a:solidFill>
                <a:schemeClr val="lt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Matches experiments only at </a:t>
            </a:r>
            <a:r>
              <a:rPr lang="en-GB" sz="1500" b="1">
                <a:solidFill>
                  <a:schemeClr val="lt1"/>
                </a:solidFill>
              </a:rPr>
              <a:t>long wavelengths only</a:t>
            </a:r>
            <a:endParaRPr sz="1500" b="1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187500" y="3934975"/>
            <a:ext cx="26448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Lord Rayleigh (1900), </a:t>
            </a:r>
            <a:endParaRPr sz="1800">
              <a:solidFill>
                <a:srgbClr val="A9A9A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Sir James Jeans (1905)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Ultraviolet Catastrophe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25" y="1017725"/>
            <a:ext cx="7792274" cy="387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123975"/>
            <a:ext cx="8520600" cy="6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Planck’s Quantum Hypothesis (1900)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1731175" y="2135700"/>
            <a:ext cx="7101000" cy="24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450" y="1374500"/>
            <a:ext cx="6720249" cy="368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749963"/>
            <a:ext cx="187642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10" y="0"/>
            <a:ext cx="89919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2437999" y="200075"/>
            <a:ext cx="38061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Planck’s Black Body Radiation Law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194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From Classical Particles to Quantum Waves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896025"/>
            <a:ext cx="8520600" cy="36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Not only light — </a:t>
            </a:r>
            <a:r>
              <a:rPr lang="en-GB" sz="1600" b="1">
                <a:solidFill>
                  <a:schemeClr val="lt1"/>
                </a:solidFill>
              </a:rPr>
              <a:t>matter itself behaves like a wave</a:t>
            </a:r>
            <a:endParaRPr sz="1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51" b="1">
              <a:solidFill>
                <a:schemeClr val="lt1"/>
              </a:solidFill>
            </a:endParaRPr>
          </a:p>
          <a:p>
            <a:pPr marL="457200" lvl="0" indent="-319731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551">
                <a:solidFill>
                  <a:schemeClr val="lt1"/>
                </a:solidFill>
              </a:rPr>
              <a:t>Particles described by </a:t>
            </a:r>
            <a:r>
              <a:rPr lang="en-GB" sz="1551" b="1">
                <a:solidFill>
                  <a:schemeClr val="lt1"/>
                </a:solidFill>
              </a:rPr>
              <a:t>wavefunctions</a:t>
            </a:r>
            <a:br>
              <a:rPr lang="en-GB" sz="1551" b="1">
                <a:solidFill>
                  <a:schemeClr val="lt1"/>
                </a:solidFill>
              </a:rPr>
            </a:br>
            <a:endParaRPr sz="1551" b="1">
              <a:solidFill>
                <a:schemeClr val="lt1"/>
              </a:solidFill>
            </a:endParaRPr>
          </a:p>
          <a:p>
            <a:pPr marL="457200" lvl="0" indent="-31973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551">
                <a:solidFill>
                  <a:schemeClr val="lt1"/>
                </a:solidFill>
              </a:rPr>
              <a:t>Momentum ↔ wavelength</a:t>
            </a:r>
            <a:br>
              <a:rPr lang="en-GB" sz="1551">
                <a:solidFill>
                  <a:schemeClr val="lt1"/>
                </a:solidFill>
              </a:rPr>
            </a:br>
            <a:endParaRPr sz="1551">
              <a:solidFill>
                <a:schemeClr val="lt1"/>
              </a:solidFill>
            </a:endParaRPr>
          </a:p>
          <a:p>
            <a:pPr marL="457200" lvl="0" indent="-319731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551">
                <a:solidFill>
                  <a:schemeClr val="lt1"/>
                </a:solidFill>
              </a:rPr>
              <a:t>Sets the stage for quantum dynamics</a:t>
            </a:r>
            <a:br>
              <a:rPr lang="en-GB" sz="1551">
                <a:solidFill>
                  <a:schemeClr val="lt1"/>
                </a:solidFill>
              </a:rPr>
            </a:br>
            <a:endParaRPr sz="155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>
              <a:solidFill>
                <a:schemeClr val="lt1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275" y="1298338"/>
            <a:ext cx="152400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2764225" y="2255300"/>
            <a:ext cx="29904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rgbClr val="A9A9A9"/>
                </a:solidFill>
              </a:rPr>
              <a:t>de Broglie wavelength</a:t>
            </a:r>
            <a:endParaRPr sz="1800" i="1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162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Quantum States, Dynamics, and Measurement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159475" y="637100"/>
            <a:ext cx="8520600" cy="42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State Evolution</a:t>
            </a:r>
            <a:endParaRPr sz="24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Measurement &amp; Probability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375" y="1202700"/>
            <a:ext cx="3873225" cy="78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3229050" y="1983450"/>
            <a:ext cx="3033900" cy="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Schrödinger Equation</a:t>
            </a:r>
            <a:endParaRPr sz="1800">
              <a:solidFill>
                <a:srgbClr val="A9A9A9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2313" y="2807900"/>
            <a:ext cx="242887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3359563" y="3531800"/>
            <a:ext cx="2294400" cy="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Born Rule</a:t>
            </a:r>
            <a:endParaRPr sz="1800">
              <a:solidFill>
                <a:srgbClr val="A9A9A9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41400" y="3821200"/>
            <a:ext cx="5926500" cy="14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Quantum systems described by </a:t>
            </a:r>
            <a:r>
              <a:rPr lang="en-GB" sz="1300" b="1">
                <a:solidFill>
                  <a:schemeClr val="lt1"/>
                </a:solidFill>
              </a:rPr>
              <a:t>state vectors / wavefunctions</a:t>
            </a:r>
            <a:br>
              <a:rPr lang="en-GB" sz="1300" b="1">
                <a:solidFill>
                  <a:schemeClr val="lt1"/>
                </a:solidFill>
              </a:rPr>
            </a:br>
            <a:endParaRPr sz="1300" b="1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Time evolution is </a:t>
            </a:r>
            <a:r>
              <a:rPr lang="en-GB" sz="1300" b="1">
                <a:solidFill>
                  <a:schemeClr val="lt1"/>
                </a:solidFill>
              </a:rPr>
              <a:t>deterministic and unitary</a:t>
            </a:r>
            <a:br>
              <a:rPr lang="en-GB" sz="1300" b="1">
                <a:solidFill>
                  <a:schemeClr val="lt1"/>
                </a:solidFill>
              </a:rPr>
            </a:br>
            <a:endParaRPr sz="1300" b="1">
              <a:solidFill>
                <a:schemeClr val="lt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Measurement outcomes are </a:t>
            </a:r>
            <a:r>
              <a:rPr lang="en-GB" sz="1300" b="1">
                <a:solidFill>
                  <a:schemeClr val="lt1"/>
                </a:solidFill>
              </a:rPr>
              <a:t>intrinsically probabilistic</a:t>
            </a:r>
            <a:br>
              <a:rPr lang="en-GB" sz="1300" b="1">
                <a:solidFill>
                  <a:schemeClr val="lt1"/>
                </a:solidFill>
              </a:rPr>
            </a:b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5950375" y="4473650"/>
            <a:ext cx="31935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Erwin Schrödinger (1926) · Max Born (1926)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Double Slit Experiment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50" y="1254875"/>
            <a:ext cx="5456850" cy="350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500" y="1772500"/>
            <a:ext cx="2468452" cy="15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268200" y="118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Light Takes Every Possible Path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1"/>
          </p:nvPr>
        </p:nvSpPr>
        <p:spPr>
          <a:xfrm>
            <a:off x="2720725" y="1410438"/>
            <a:ext cx="1609500" cy="3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288" y="843713"/>
            <a:ext cx="37814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5298300" y="1831200"/>
            <a:ext cx="34905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Feynman Path Integral (1948)</a:t>
            </a:r>
            <a:endParaRPr sz="1800">
              <a:solidFill>
                <a:srgbClr val="A9A9A9"/>
              </a:solidFill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2025" y="2505300"/>
            <a:ext cx="295275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5471900" y="3734200"/>
            <a:ext cx="3033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Action functional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311700" y="271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Derivation of Feynman Path Integral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75" y="1017725"/>
            <a:ext cx="8364451" cy="394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title"/>
          </p:nvPr>
        </p:nvSpPr>
        <p:spPr>
          <a:xfrm>
            <a:off x="0" y="216675"/>
            <a:ext cx="907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Light goes through all paths, but we only see Path of Least Action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75" y="1017725"/>
            <a:ext cx="8003025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8527550" y="18638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2888" y="1017725"/>
            <a:ext cx="221932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268200" y="173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Mathematical Structure of Quantum Mechanics</a:t>
            </a:r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074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75" y="685075"/>
            <a:ext cx="7215426" cy="427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50EB82-5DCE-CD08-9A78-68B92EE68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975" y="2508250"/>
            <a:ext cx="2769225" cy="1384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62A3AE-FB48-C72B-4227-B23978699046}"/>
              </a:ext>
            </a:extLst>
          </p:cNvPr>
          <p:cNvSpPr/>
          <p:nvPr/>
        </p:nvSpPr>
        <p:spPr>
          <a:xfrm>
            <a:off x="577850" y="3422650"/>
            <a:ext cx="1587500" cy="355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333D6F-E273-C615-7A35-31887EEAB8B3}"/>
              </a:ext>
            </a:extLst>
          </p:cNvPr>
          <p:cNvSpPr txBox="1"/>
          <p:nvPr/>
        </p:nvSpPr>
        <p:spPr>
          <a:xfrm>
            <a:off x="562736" y="3422650"/>
            <a:ext cx="4637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Every physical observable is represented by a linear Hermitian operator acting on the Hilbert space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7B6334-C0A2-0E48-7CC6-9FF0D3EE296C}"/>
              </a:ext>
            </a:extLst>
          </p:cNvPr>
          <p:cNvSpPr txBox="1"/>
          <p:nvPr/>
        </p:nvSpPr>
        <p:spPr>
          <a:xfrm>
            <a:off x="1573488" y="1333500"/>
            <a:ext cx="2400300" cy="48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256638-DBFC-D4EB-24A0-194932B6E75A}"/>
              </a:ext>
            </a:extLst>
          </p:cNvPr>
          <p:cNvSpPr txBox="1"/>
          <p:nvPr/>
        </p:nvSpPr>
        <p:spPr>
          <a:xfrm>
            <a:off x="562736" y="4758684"/>
            <a:ext cx="4711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The </a:t>
            </a:r>
            <a:r>
              <a:rPr lang="en-US" sz="1000" b="1" dirty="0"/>
              <a:t>average result</a:t>
            </a:r>
            <a:r>
              <a:rPr lang="en-US" sz="1000" dirty="0"/>
              <a:t> of many measurements on identically prepared systems.</a:t>
            </a:r>
            <a:endParaRPr lang="en-IN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246450" y="86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Quantum Computing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5" name="Google Shape;16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solidFill>
                  <a:schemeClr val="lt1"/>
                </a:solidFill>
              </a:rPr>
              <a:t>Properties:</a:t>
            </a:r>
            <a:endParaRPr sz="1400" b="1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Definite state</a:t>
            </a: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Deterministic</a:t>
            </a: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No phase</a:t>
            </a: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One value at a time</a:t>
            </a:r>
            <a:endParaRPr sz="14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lt1"/>
              </a:solidFill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202950" y="787275"/>
            <a:ext cx="35667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</a:rPr>
              <a:t>Bits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4792050" y="787275"/>
            <a:ext cx="35667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</a:rPr>
              <a:t>Qubits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4792050" y="1261375"/>
            <a:ext cx="4260300" cy="26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lt1"/>
                </a:solidFill>
              </a:rPr>
              <a:t>Properties:</a:t>
            </a:r>
            <a:endParaRPr sz="1400" b="1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Superposition</a:t>
            </a: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Probabilistic outcomes</a:t>
            </a: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Phase matters</a:t>
            </a:r>
            <a:endParaRPr sz="14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Interference possible</a:t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150" y="1396275"/>
            <a:ext cx="15335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7250" y="1261375"/>
            <a:ext cx="2447925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Quantum Gates and Unitary Evolution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" name="Google Shape;17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6959"/>
              <a:buFont typeface="Arial"/>
              <a:buNone/>
            </a:pPr>
            <a:r>
              <a:rPr lang="en-GB" sz="1931" b="1">
                <a:solidFill>
                  <a:schemeClr val="lt1"/>
                </a:solidFill>
              </a:rPr>
              <a:t>Examples</a:t>
            </a:r>
            <a:endParaRPr sz="1931" b="1">
              <a:solidFill>
                <a:schemeClr val="lt1"/>
              </a:solidFill>
            </a:endParaRPr>
          </a:p>
          <a:p>
            <a:pPr marL="457200" lvl="0" indent="-330285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731" b="1">
                <a:solidFill>
                  <a:schemeClr val="lt1"/>
                </a:solidFill>
              </a:rPr>
              <a:t>Hadamard gate</a:t>
            </a:r>
            <a:r>
              <a:rPr lang="en-GB" sz="1731">
                <a:solidFill>
                  <a:schemeClr val="lt1"/>
                </a:solidFill>
              </a:rPr>
              <a:t>: creates superposition</a:t>
            </a:r>
            <a:endParaRPr sz="1731">
              <a:solidFill>
                <a:schemeClr val="lt1"/>
              </a:solidFill>
            </a:endParaRPr>
          </a:p>
          <a:p>
            <a:pPr marL="457200" lvl="0" indent="-3302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731" b="1">
                <a:solidFill>
                  <a:schemeClr val="lt1"/>
                </a:solidFill>
              </a:rPr>
              <a:t>Pauli-X</a:t>
            </a:r>
            <a:r>
              <a:rPr lang="en-GB" sz="1731">
                <a:solidFill>
                  <a:schemeClr val="lt1"/>
                </a:solidFill>
              </a:rPr>
              <a:t>: quantum NOT</a:t>
            </a:r>
            <a:endParaRPr sz="1731">
              <a:solidFill>
                <a:schemeClr val="lt1"/>
              </a:solidFill>
            </a:endParaRPr>
          </a:p>
          <a:p>
            <a:pPr marL="457200" lvl="0" indent="-3302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731" b="1">
                <a:solidFill>
                  <a:schemeClr val="lt1"/>
                </a:solidFill>
              </a:rPr>
              <a:t>CNOT</a:t>
            </a:r>
            <a:r>
              <a:rPr lang="en-GB" sz="1731">
                <a:solidFill>
                  <a:schemeClr val="lt1"/>
                </a:solidFill>
              </a:rPr>
              <a:t>: generates entanglement</a:t>
            </a:r>
            <a:endParaRPr sz="922">
              <a:solidFill>
                <a:schemeClr val="lt1"/>
              </a:solidFill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7825" y="1152475"/>
            <a:ext cx="3188175" cy="7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2707863" y="1820325"/>
            <a:ext cx="31881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Unitary Time Evolution</a:t>
            </a:r>
            <a:endParaRPr sz="1800">
              <a:solidFill>
                <a:srgbClr val="A9A9A9"/>
              </a:solidFill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125" y="2352138"/>
            <a:ext cx="1588300" cy="6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2707875" y="2985325"/>
            <a:ext cx="34164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Unitarity preserves probability</a:t>
            </a:r>
            <a:endParaRPr sz="1800">
              <a:solidFill>
                <a:srgbClr val="A9A9A9"/>
              </a:solidFill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5254425" y="4251175"/>
            <a:ext cx="37950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Quantum Information Theory · Dirac · von Neumann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>
            <a:spLocks noGrp="1"/>
          </p:cNvSpPr>
          <p:nvPr>
            <p:ph type="title"/>
          </p:nvPr>
        </p:nvSpPr>
        <p:spPr>
          <a:xfrm>
            <a:off x="213825" y="140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2500" b="1">
                <a:solidFill>
                  <a:schemeClr val="lt1"/>
                </a:solidFill>
              </a:rPr>
              <a:t>Limits of Quantum Search (BBBV’s Theorem)</a:t>
            </a:r>
            <a:endParaRPr sz="2500" b="1">
              <a:solidFill>
                <a:schemeClr val="lt1"/>
              </a:solidFill>
            </a:endParaRPr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"/>
          </p:nvPr>
        </p:nvSpPr>
        <p:spPr>
          <a:xfrm>
            <a:off x="3552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lt1"/>
                </a:solidFill>
              </a:rPr>
              <a:t>No quantum algorithm can search an unstructured database in fewer than Ω(N)</a:t>
            </a:r>
            <a:r>
              <a:rPr lang="en-GB" sz="1500">
                <a:solidFill>
                  <a:schemeClr val="lt1"/>
                </a:solidFill>
              </a:rPr>
              <a:t> </a:t>
            </a:r>
            <a:r>
              <a:rPr lang="en-GB" sz="1500" b="1">
                <a:solidFill>
                  <a:schemeClr val="lt1"/>
                </a:solidFill>
              </a:rPr>
              <a:t>queries.</a:t>
            </a:r>
            <a:endParaRPr sz="1500" b="1">
              <a:solidFill>
                <a:schemeClr val="lt1"/>
              </a:solidFill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lt1"/>
              </a:solidFill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lt1"/>
              </a:solidFill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lt1"/>
              </a:solidFill>
            </a:endParaRPr>
          </a:p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marL="457200" marR="3810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Applies to </a:t>
            </a:r>
            <a:r>
              <a:rPr lang="en-GB" sz="1400" b="1">
                <a:solidFill>
                  <a:schemeClr val="lt1"/>
                </a:solidFill>
              </a:rPr>
              <a:t>unstructured search</a:t>
            </a:r>
            <a:endParaRPr sz="1400" b="1">
              <a:solidFill>
                <a:schemeClr val="lt1"/>
              </a:solidFill>
            </a:endParaRPr>
          </a:p>
          <a:p>
            <a:pPr marL="457200" marR="3810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Rules out exponential speedup</a:t>
            </a:r>
            <a:endParaRPr sz="1400">
              <a:solidFill>
                <a:schemeClr val="lt1"/>
              </a:solidFill>
            </a:endParaRPr>
          </a:p>
          <a:p>
            <a:pPr marL="457200" marR="3810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</a:rPr>
              <a:t>Grover is </a:t>
            </a:r>
            <a:r>
              <a:rPr lang="en-GB" sz="1400" b="1">
                <a:solidFill>
                  <a:schemeClr val="lt1"/>
                </a:solidFill>
              </a:rPr>
              <a:t>provably optimal</a:t>
            </a:r>
            <a:endParaRPr sz="2200">
              <a:solidFill>
                <a:schemeClr val="lt1"/>
              </a:solidFill>
            </a:endParaRPr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425" y="1828725"/>
            <a:ext cx="2588075" cy="89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/>
        </p:nvSpPr>
        <p:spPr>
          <a:xfrm>
            <a:off x="4177875" y="4158300"/>
            <a:ext cx="45564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A9A9"/>
                </a:solidFill>
              </a:rPr>
              <a:t>Bennett · Bernstein · Brassard · Vazirani — 1997</a:t>
            </a:r>
            <a:endParaRPr sz="13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>
            <a:spLocks noGrp="1"/>
          </p:cNvSpPr>
          <p:nvPr>
            <p:ph type="title"/>
          </p:nvPr>
        </p:nvSpPr>
        <p:spPr>
          <a:xfrm>
            <a:off x="311700" y="140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Grover’s Algorithm: Geometric Interpretation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p29"/>
          <p:cNvSpPr txBox="1">
            <a:spLocks noGrp="1"/>
          </p:cNvSpPr>
          <p:nvPr>
            <p:ph type="body" idx="1"/>
          </p:nvPr>
        </p:nvSpPr>
        <p:spPr>
          <a:xfrm>
            <a:off x="246450" y="809050"/>
            <a:ext cx="8520600" cy="3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Initial Superposition ⇒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Grover Operator ⇒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Amplitude evolution ⇒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Iterations ⇒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713" y="713250"/>
            <a:ext cx="22383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13" y="1703888"/>
            <a:ext cx="24479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6825" y="2668525"/>
            <a:ext cx="5589350" cy="61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6825" y="3575363"/>
            <a:ext cx="156210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875" y="776425"/>
            <a:ext cx="4480174" cy="436707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2688100" y="358050"/>
            <a:ext cx="15006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</a:rPr>
              <a:t>∣w⟩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5145675" y="2715300"/>
            <a:ext cx="9894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∣w⊥⟩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5145675" y="2440175"/>
            <a:ext cx="674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∣s⟩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6015600" y="1548475"/>
            <a:ext cx="3074100" cy="15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O rotates is about ∣w⊥⟩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(2∣s⟩⟨s∣−I) rotates it about ∣s⟩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Quantum Entanglement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Joint state </a:t>
            </a:r>
            <a:r>
              <a:rPr lang="en-GB" sz="1700" b="1">
                <a:solidFill>
                  <a:schemeClr val="lt1"/>
                </a:solidFill>
              </a:rPr>
              <a:t>cannot be factorized</a:t>
            </a:r>
            <a:endParaRPr sz="1700" b="1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Measurement outcomes are </a:t>
            </a:r>
            <a:r>
              <a:rPr lang="en-GB" sz="1700" b="1">
                <a:solidFill>
                  <a:schemeClr val="lt1"/>
                </a:solidFill>
              </a:rPr>
              <a:t>correlated</a:t>
            </a:r>
            <a:endParaRPr sz="1700" b="1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Resource for quantum technologies</a:t>
            </a:r>
            <a:endParaRPr sz="1700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17" name="Google Shape;2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00" y="1152475"/>
            <a:ext cx="27622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 txBox="1"/>
          <p:nvPr/>
        </p:nvSpPr>
        <p:spPr>
          <a:xfrm>
            <a:off x="1086775" y="1838275"/>
            <a:ext cx="16203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Bell State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6925" y="1152475"/>
            <a:ext cx="2466668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 txBox="1"/>
          <p:nvPr/>
        </p:nvSpPr>
        <p:spPr>
          <a:xfrm>
            <a:off x="5635025" y="1907475"/>
            <a:ext cx="23379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Classical Analogy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4862950" y="3897325"/>
            <a:ext cx="38388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A9A9A9"/>
                </a:solidFill>
              </a:rPr>
              <a:t>Einstein–Podolsky–Rosen (1935)</a:t>
            </a:r>
            <a:endParaRPr sz="1800">
              <a:solidFill>
                <a:srgbClr val="A9A9A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Bell (1964)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Non-Separability of Quantum States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Subsystems have </a:t>
            </a:r>
            <a:r>
              <a:rPr lang="en-GB" sz="1600" b="1">
                <a:solidFill>
                  <a:schemeClr val="lt1"/>
                </a:solidFill>
              </a:rPr>
              <a:t>no independent states</a:t>
            </a:r>
            <a:endParaRPr sz="1600" b="1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Only the </a:t>
            </a:r>
            <a:r>
              <a:rPr lang="en-GB" sz="1600" b="1">
                <a:solidFill>
                  <a:schemeClr val="lt1"/>
                </a:solidFill>
              </a:rPr>
              <a:t>joint system</a:t>
            </a:r>
            <a:r>
              <a:rPr lang="en-GB" sz="1600">
                <a:solidFill>
                  <a:schemeClr val="lt1"/>
                </a:solidFill>
              </a:rPr>
              <a:t> is well-defined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Correlations exceed classical limits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25" y="1317650"/>
            <a:ext cx="3503525" cy="6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3400" y="1332150"/>
            <a:ext cx="2726550" cy="6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685225" y="2298800"/>
            <a:ext cx="35769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Entangled (Non-Separable) State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31" name="Google Shape;231;p32"/>
          <p:cNvSpPr txBox="1"/>
          <p:nvPr/>
        </p:nvSpPr>
        <p:spPr>
          <a:xfrm>
            <a:off x="4944975" y="2298800"/>
            <a:ext cx="35034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Separable (Classical-like) State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5255400" y="4095575"/>
            <a:ext cx="35769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A9A9A9"/>
                </a:solidFill>
              </a:rPr>
              <a:t>Schrödinger (1935) · EPR (1935)</a:t>
            </a:r>
            <a:endParaRPr sz="1800">
              <a:solidFill>
                <a:srgbClr val="A9A9A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Bell Inequalities: Testing Classical Reality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8" name="Google Shape;238;p33"/>
          <p:cNvSpPr txBox="1">
            <a:spLocks noGrp="1"/>
          </p:cNvSpPr>
          <p:nvPr>
            <p:ph type="body" idx="1"/>
          </p:nvPr>
        </p:nvSpPr>
        <p:spPr>
          <a:xfrm>
            <a:off x="311700" y="11633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No local hidden-variable theory can reproduce all quantum predictions.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Classical (local realism): </a:t>
            </a:r>
            <a:r>
              <a:rPr lang="en-GB" sz="1600" b="1">
                <a:solidFill>
                  <a:schemeClr val="lt1"/>
                </a:solidFill>
              </a:rPr>
              <a:t>≤ 2</a:t>
            </a:r>
            <a:endParaRPr sz="1600" b="1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Quantum mechanics: </a:t>
            </a:r>
            <a:r>
              <a:rPr lang="en-GB" sz="1600" b="1">
                <a:solidFill>
                  <a:schemeClr val="lt1"/>
                </a:solidFill>
              </a:rPr>
              <a:t>up to 2 sqrt(2)</a:t>
            </a:r>
            <a:endParaRPr sz="1600" b="1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>
                <a:solidFill>
                  <a:schemeClr val="lt1"/>
                </a:solidFill>
              </a:rPr>
              <a:t>Experiments violate the classical bound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39" name="Google Shape;2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650" y="1654775"/>
            <a:ext cx="4926026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3"/>
          <p:cNvSpPr txBox="1"/>
          <p:nvPr/>
        </p:nvSpPr>
        <p:spPr>
          <a:xfrm>
            <a:off x="3057825" y="2396675"/>
            <a:ext cx="2740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CHSH Inequality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41" name="Google Shape;241;p33"/>
          <p:cNvSpPr txBox="1"/>
          <p:nvPr/>
        </p:nvSpPr>
        <p:spPr>
          <a:xfrm>
            <a:off x="4572000" y="3951675"/>
            <a:ext cx="45720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A9A9A9"/>
                </a:solidFill>
              </a:rPr>
              <a:t>John S. Bell — 1964</a:t>
            </a:r>
            <a:endParaRPr sz="1800">
              <a:solidFill>
                <a:srgbClr val="A9A9A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Aspect (1982) · Loophole-free tests (2015)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Entanglement as a Physical Resource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7" name="Google Shape;24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Entanglement enables tasks impossible with classical correlations.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4557"/>
              <a:buFont typeface="Arial"/>
              <a:buNone/>
            </a:pPr>
            <a:r>
              <a:rPr lang="en-GB" sz="2016" b="1">
                <a:solidFill>
                  <a:schemeClr val="lt1"/>
                </a:solidFill>
              </a:rPr>
              <a:t>Key applications</a:t>
            </a:r>
            <a:endParaRPr sz="2016" b="1">
              <a:solidFill>
                <a:schemeClr val="lt1"/>
              </a:solidFill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816" b="1">
                <a:solidFill>
                  <a:schemeClr val="lt1"/>
                </a:solidFill>
              </a:rPr>
              <a:t>Quantum teleportation</a:t>
            </a:r>
            <a:r>
              <a:rPr lang="en-GB" sz="1816">
                <a:solidFill>
                  <a:schemeClr val="lt1"/>
                </a:solidFill>
              </a:rPr>
              <a:t> → transmit an unknown quantum state</a:t>
            </a:r>
            <a:br>
              <a:rPr lang="en-GB" sz="1816">
                <a:solidFill>
                  <a:schemeClr val="lt1"/>
                </a:solidFill>
              </a:rPr>
            </a:br>
            <a:endParaRPr sz="1816">
              <a:solidFill>
                <a:schemeClr val="lt1"/>
              </a:solidFill>
            </a:endParaRPr>
          </a:p>
          <a:p>
            <a:pPr marL="457200" lvl="0" indent="-33528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816" b="1">
                <a:solidFill>
                  <a:schemeClr val="lt1"/>
                </a:solidFill>
              </a:rPr>
              <a:t>Superdense coding</a:t>
            </a:r>
            <a:r>
              <a:rPr lang="en-GB" sz="1816">
                <a:solidFill>
                  <a:schemeClr val="lt1"/>
                </a:solidFill>
              </a:rPr>
              <a:t> → send 2 classical bits using 1 qubit</a:t>
            </a:r>
            <a:br>
              <a:rPr lang="en-GB" sz="1816">
                <a:solidFill>
                  <a:schemeClr val="lt1"/>
                </a:solidFill>
              </a:rPr>
            </a:br>
            <a:endParaRPr sz="1816">
              <a:solidFill>
                <a:schemeClr val="lt1"/>
              </a:solidFill>
            </a:endParaRPr>
          </a:p>
          <a:p>
            <a:pPr marL="457200" lvl="0" indent="-33528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816" b="1">
                <a:solidFill>
                  <a:schemeClr val="lt1"/>
                </a:solidFill>
              </a:rPr>
              <a:t>Quantum cryptography (QKD)</a:t>
            </a:r>
            <a:r>
              <a:rPr lang="en-GB" sz="1816">
                <a:solidFill>
                  <a:schemeClr val="lt1"/>
                </a:solidFill>
              </a:rPr>
              <a:t> → provably secure communication</a:t>
            </a:r>
            <a:br>
              <a:rPr lang="en-GB" sz="1816">
                <a:solidFill>
                  <a:schemeClr val="lt1"/>
                </a:solidFill>
              </a:rPr>
            </a:br>
            <a:endParaRPr sz="1816">
              <a:solidFill>
                <a:schemeClr val="lt1"/>
              </a:solidFill>
            </a:endParaRPr>
          </a:p>
          <a:p>
            <a:pPr marL="457200" lvl="0" indent="-33528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1816" b="1">
                <a:solidFill>
                  <a:schemeClr val="lt1"/>
                </a:solidFill>
              </a:rPr>
              <a:t>Quantum computing</a:t>
            </a:r>
            <a:r>
              <a:rPr lang="en-GB" sz="1816">
                <a:solidFill>
                  <a:schemeClr val="lt1"/>
                </a:solidFill>
              </a:rPr>
              <a:t> → speedups via correlated amplitudes</a:t>
            </a:r>
            <a:endParaRPr sz="1816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4286600" y="4408400"/>
            <a:ext cx="4686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Bennett · Brassard · Popescu · Schumacher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Quantum Teleportation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4" name="Google Shape;254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44" b="1">
                <a:solidFill>
                  <a:schemeClr val="lt1"/>
                </a:solidFill>
              </a:rPr>
              <a:t>Protocol</a:t>
            </a:r>
            <a:endParaRPr sz="2044" b="1">
              <a:solidFill>
                <a:schemeClr val="lt1"/>
              </a:solidFill>
            </a:endParaRPr>
          </a:p>
          <a:p>
            <a:pPr marL="457200" lvl="0" indent="-345714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44"/>
              <a:buChar char="●"/>
            </a:pPr>
            <a:r>
              <a:rPr lang="en-GB" sz="1844">
                <a:solidFill>
                  <a:schemeClr val="lt1"/>
                </a:solidFill>
              </a:rPr>
              <a:t>Shared </a:t>
            </a:r>
            <a:r>
              <a:rPr lang="en-GB" sz="1844" b="1">
                <a:solidFill>
                  <a:schemeClr val="lt1"/>
                </a:solidFill>
              </a:rPr>
              <a:t>entangled Bell pair</a:t>
            </a:r>
            <a:endParaRPr sz="1844" b="1">
              <a:solidFill>
                <a:schemeClr val="lt1"/>
              </a:solidFill>
            </a:endParaRPr>
          </a:p>
          <a:p>
            <a:pPr marL="457200" lvl="0" indent="-34571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44"/>
              <a:buChar char="●"/>
            </a:pPr>
            <a:r>
              <a:rPr lang="en-GB" sz="1844" b="1">
                <a:solidFill>
                  <a:schemeClr val="lt1"/>
                </a:solidFill>
              </a:rPr>
              <a:t>Bell-state measurement</a:t>
            </a:r>
            <a:r>
              <a:rPr lang="en-GB" sz="1844">
                <a:solidFill>
                  <a:schemeClr val="lt1"/>
                </a:solidFill>
              </a:rPr>
              <a:t> on sender’s side</a:t>
            </a:r>
            <a:endParaRPr sz="1844">
              <a:solidFill>
                <a:schemeClr val="lt1"/>
              </a:solidFill>
            </a:endParaRPr>
          </a:p>
          <a:p>
            <a:pPr marL="457200" lvl="0" indent="-34571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44"/>
              <a:buChar char="●"/>
            </a:pPr>
            <a:r>
              <a:rPr lang="en-GB" sz="1844" b="1">
                <a:solidFill>
                  <a:schemeClr val="lt1"/>
                </a:solidFill>
              </a:rPr>
              <a:t>Two classical bits</a:t>
            </a:r>
            <a:r>
              <a:rPr lang="en-GB" sz="1844">
                <a:solidFill>
                  <a:schemeClr val="lt1"/>
                </a:solidFill>
              </a:rPr>
              <a:t> sent</a:t>
            </a:r>
            <a:endParaRPr sz="1844">
              <a:solidFill>
                <a:schemeClr val="lt1"/>
              </a:solidFill>
            </a:endParaRPr>
          </a:p>
          <a:p>
            <a:pPr marL="457200" lvl="0" indent="-34571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44"/>
              <a:buChar char="●"/>
            </a:pPr>
            <a:r>
              <a:rPr lang="en-GB" sz="1844" b="1">
                <a:solidFill>
                  <a:schemeClr val="lt1"/>
                </a:solidFill>
              </a:rPr>
              <a:t>Unitary correction</a:t>
            </a:r>
            <a:r>
              <a:rPr lang="en-GB" sz="1844">
                <a:solidFill>
                  <a:schemeClr val="lt1"/>
                </a:solidFill>
              </a:rPr>
              <a:t> at receiver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5" name="Google Shape;25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713" y="1152463"/>
            <a:ext cx="34766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5"/>
          <p:cNvSpPr txBox="1"/>
          <p:nvPr/>
        </p:nvSpPr>
        <p:spPr>
          <a:xfrm>
            <a:off x="2644600" y="1885900"/>
            <a:ext cx="377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State transfer, not particle transfer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3212488" y="2285400"/>
            <a:ext cx="32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</a:rPr>
              <a:t>Original state is </a:t>
            </a:r>
            <a:r>
              <a:rPr lang="en-GB" sz="1500" b="1">
                <a:solidFill>
                  <a:schemeClr val="lt1"/>
                </a:solidFill>
              </a:rPr>
              <a:t>destroyed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6135225" y="4114800"/>
            <a:ext cx="28926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Bennett et al. — 1993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Decoherence: The Enemy of Quantum States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4" name="Google Shape;264;p36"/>
          <p:cNvSpPr txBox="1">
            <a:spLocks noGrp="1"/>
          </p:cNvSpPr>
          <p:nvPr>
            <p:ph type="body" idx="1"/>
          </p:nvPr>
        </p:nvSpPr>
        <p:spPr>
          <a:xfrm>
            <a:off x="311688" y="1141600"/>
            <a:ext cx="8520600" cy="34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‘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9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b="1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Caused by </a:t>
            </a:r>
            <a:r>
              <a:rPr lang="en-GB" sz="1700" b="1">
                <a:solidFill>
                  <a:schemeClr val="lt1"/>
                </a:solidFill>
              </a:rPr>
              <a:t>interaction with environment</a:t>
            </a:r>
            <a:endParaRPr sz="1700" b="1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Destroys </a:t>
            </a:r>
            <a:r>
              <a:rPr lang="en-GB" sz="1700" b="1">
                <a:solidFill>
                  <a:schemeClr val="lt1"/>
                </a:solidFill>
              </a:rPr>
              <a:t>superposition &amp; entanglement</a:t>
            </a:r>
            <a:endParaRPr sz="1700" b="1">
              <a:solidFill>
                <a:schemeClr val="lt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>
                <a:solidFill>
                  <a:schemeClr val="lt1"/>
                </a:solidFill>
              </a:rPr>
              <a:t>Explains quantum → classical transition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050" y="1199775"/>
            <a:ext cx="280987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6"/>
          <p:cNvSpPr txBox="1"/>
          <p:nvPr/>
        </p:nvSpPr>
        <p:spPr>
          <a:xfrm>
            <a:off x="3511788" y="2095125"/>
            <a:ext cx="2120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Loss of coherence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67" name="Google Shape;26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7063" y="2785975"/>
            <a:ext cx="2809875" cy="4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 txBox="1"/>
          <p:nvPr/>
        </p:nvSpPr>
        <p:spPr>
          <a:xfrm>
            <a:off x="5793950" y="4452150"/>
            <a:ext cx="3157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Zurek · Joos · Schlosshauer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>
            <a:spLocks noGrp="1"/>
          </p:cNvSpPr>
          <p:nvPr>
            <p:ph type="title"/>
          </p:nvPr>
        </p:nvSpPr>
        <p:spPr>
          <a:xfrm>
            <a:off x="132675" y="107925"/>
            <a:ext cx="869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Quantum Noise Channels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74" name="Google Shape;274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5" name="Google Shape;2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8113" y="1675238"/>
            <a:ext cx="25908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7"/>
          <p:cNvSpPr txBox="1"/>
          <p:nvPr/>
        </p:nvSpPr>
        <p:spPr>
          <a:xfrm>
            <a:off x="3231825" y="2481550"/>
            <a:ext cx="24834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Kraus Representation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77" name="Google Shape;27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4350" y="3412800"/>
            <a:ext cx="183832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7"/>
          <p:cNvSpPr txBox="1"/>
          <p:nvPr/>
        </p:nvSpPr>
        <p:spPr>
          <a:xfrm>
            <a:off x="3428100" y="4119050"/>
            <a:ext cx="22878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Trace Preservation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79" name="Google Shape;279;p37"/>
          <p:cNvSpPr txBox="1">
            <a:spLocks noGrp="1"/>
          </p:cNvSpPr>
          <p:nvPr>
            <p:ph type="title"/>
          </p:nvPr>
        </p:nvSpPr>
        <p:spPr>
          <a:xfrm>
            <a:off x="540225" y="771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General Quantum Channel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6" name="Google Shape;2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0700" y="265238"/>
            <a:ext cx="413385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8"/>
          <p:cNvSpPr txBox="1"/>
          <p:nvPr/>
        </p:nvSpPr>
        <p:spPr>
          <a:xfrm>
            <a:off x="3050325" y="1017725"/>
            <a:ext cx="341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Amplitude Damping Channel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88" name="Google Shape;28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300" y="2027288"/>
            <a:ext cx="2579200" cy="4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4575" y="1873150"/>
            <a:ext cx="470535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8"/>
          <p:cNvSpPr txBox="1"/>
          <p:nvPr/>
        </p:nvSpPr>
        <p:spPr>
          <a:xfrm>
            <a:off x="2826750" y="2717375"/>
            <a:ext cx="34905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Phase Damping (Dephasing)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91" name="Google Shape;291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1075" y="3753425"/>
            <a:ext cx="4133850" cy="4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8"/>
          <p:cNvSpPr txBox="1"/>
          <p:nvPr/>
        </p:nvSpPr>
        <p:spPr>
          <a:xfrm>
            <a:off x="3147400" y="4245225"/>
            <a:ext cx="306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Depolarizing Channel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body" idx="1"/>
          </p:nvPr>
        </p:nvSpPr>
        <p:spPr>
          <a:xfrm>
            <a:off x="224713" y="11742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lt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-GB" sz="1900">
                <a:solidFill>
                  <a:schemeClr val="lt1"/>
                </a:solidFill>
              </a:rPr>
              <a:t>Noise modeled as </a:t>
            </a:r>
            <a:r>
              <a:rPr lang="en-GB" sz="1900" b="1">
                <a:solidFill>
                  <a:schemeClr val="lt1"/>
                </a:solidFill>
              </a:rPr>
              <a:t>CPTP maps</a:t>
            </a:r>
            <a:endParaRPr sz="1900" b="1">
              <a:solidFill>
                <a:schemeClr val="lt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-GB" sz="1900">
                <a:solidFill>
                  <a:schemeClr val="lt1"/>
                </a:solidFill>
              </a:rPr>
              <a:t>Decoherence suppresses off-diagonal terms</a:t>
            </a:r>
            <a:endParaRPr sz="1900">
              <a:solidFill>
                <a:schemeClr val="lt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-GB" sz="1900">
                <a:solidFill>
                  <a:schemeClr val="lt1"/>
                </a:solidFill>
              </a:rPr>
              <a:t>Fundamental limit to scalability</a:t>
            </a:r>
            <a:endParaRPr sz="2600">
              <a:solidFill>
                <a:schemeClr val="lt1"/>
              </a:solidFill>
            </a:endParaRPr>
          </a:p>
        </p:txBody>
      </p:sp>
      <p:pic>
        <p:nvPicPr>
          <p:cNvPr id="299" name="Google Shape;2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538" y="490963"/>
            <a:ext cx="511492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9"/>
          <p:cNvSpPr txBox="1"/>
          <p:nvPr/>
        </p:nvSpPr>
        <p:spPr>
          <a:xfrm>
            <a:off x="2894725" y="1390300"/>
            <a:ext cx="367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 Lindblad Master Equation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2418838" y="1831225"/>
            <a:ext cx="441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Markovian Open Quantum Dynamics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3036075" y="4027800"/>
            <a:ext cx="560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Kraus · Lindblad · Gorini–Kossakowski–Sudarshan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Quantum Error Correction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8" name="Google Shape;308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Protects against </a:t>
            </a:r>
            <a:r>
              <a:rPr lang="en-GB" b="1">
                <a:solidFill>
                  <a:schemeClr val="lt1"/>
                </a:solidFill>
              </a:rPr>
              <a:t>decoherence &amp; noise</a:t>
            </a:r>
            <a:endParaRPr b="1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Uses </a:t>
            </a:r>
            <a:r>
              <a:rPr lang="en-GB" b="1">
                <a:solidFill>
                  <a:schemeClr val="lt1"/>
                </a:solidFill>
              </a:rPr>
              <a:t>entanglement + redundancy</a:t>
            </a:r>
            <a:endParaRPr b="1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Requires </a:t>
            </a:r>
            <a:r>
              <a:rPr lang="en-GB" b="1">
                <a:solidFill>
                  <a:schemeClr val="lt1"/>
                </a:solidFill>
              </a:rPr>
              <a:t>fault-tolerant operations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309" name="Google Shape;3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425" y="1306775"/>
            <a:ext cx="5785075" cy="6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0"/>
          <p:cNvSpPr txBox="1"/>
          <p:nvPr/>
        </p:nvSpPr>
        <p:spPr>
          <a:xfrm>
            <a:off x="1796450" y="1907325"/>
            <a:ext cx="578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Logical encoding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5602400" y="4201800"/>
            <a:ext cx="3110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Shor (1995) · Steane (1996)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>
            <a:spLocks noGrp="1"/>
          </p:cNvSpPr>
          <p:nvPr>
            <p:ph type="title"/>
          </p:nvPr>
        </p:nvSpPr>
        <p:spPr>
          <a:xfrm>
            <a:off x="311700" y="184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Two-Qubit Systems: The Minimal Quantum World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7" name="Google Shape;317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Smallest system that allows </a:t>
            </a:r>
            <a:r>
              <a:rPr lang="en-GB" b="1">
                <a:solidFill>
                  <a:schemeClr val="lt1"/>
                </a:solidFill>
              </a:rPr>
              <a:t>entanglement</a:t>
            </a:r>
            <a:endParaRPr b="1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Basis of </a:t>
            </a:r>
            <a:r>
              <a:rPr lang="en-GB" b="1">
                <a:solidFill>
                  <a:schemeClr val="lt1"/>
                </a:solidFill>
              </a:rPr>
              <a:t>teleportation &amp; error correction</a:t>
            </a:r>
            <a:endParaRPr b="1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Decoherence effects become </a:t>
            </a:r>
            <a:r>
              <a:rPr lang="en-GB" b="1">
                <a:solidFill>
                  <a:schemeClr val="lt1"/>
                </a:solidFill>
              </a:rPr>
              <a:t>visible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318" name="Google Shape;318;p41"/>
          <p:cNvSpPr txBox="1"/>
          <p:nvPr/>
        </p:nvSpPr>
        <p:spPr>
          <a:xfrm>
            <a:off x="2720750" y="1382725"/>
            <a:ext cx="33057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General two-qubit pure state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319" name="Google Shape;31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875" y="880625"/>
            <a:ext cx="41104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425" y="1860025"/>
            <a:ext cx="1576775" cy="47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 txBox="1"/>
          <p:nvPr/>
        </p:nvSpPr>
        <p:spPr>
          <a:xfrm>
            <a:off x="1279975" y="2343300"/>
            <a:ext cx="26532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Density Matrix for a pure Quantum State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322" name="Google Shape;32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9588" y="1843350"/>
            <a:ext cx="1576775" cy="4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1"/>
          <p:cNvSpPr txBox="1"/>
          <p:nvPr/>
        </p:nvSpPr>
        <p:spPr>
          <a:xfrm>
            <a:off x="5306788" y="2343300"/>
            <a:ext cx="16224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Noisy Version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24" name="Google Shape;324;p41"/>
          <p:cNvSpPr txBox="1"/>
          <p:nvPr/>
        </p:nvSpPr>
        <p:spPr>
          <a:xfrm>
            <a:off x="5754625" y="4495400"/>
            <a:ext cx="33057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Quantum Information Theory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"/>
          <p:cNvSpPr txBox="1">
            <a:spLocks noGrp="1"/>
          </p:cNvSpPr>
          <p:nvPr>
            <p:ph type="title"/>
          </p:nvPr>
        </p:nvSpPr>
        <p:spPr>
          <a:xfrm>
            <a:off x="311700" y="8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Quantum Biology: Quantum Effects in Living Systems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0" name="Google Shape;330;p42"/>
          <p:cNvSpPr txBox="1">
            <a:spLocks noGrp="1"/>
          </p:cNvSpPr>
          <p:nvPr>
            <p:ph type="body" idx="1"/>
          </p:nvPr>
        </p:nvSpPr>
        <p:spPr>
          <a:xfrm>
            <a:off x="91800" y="658900"/>
            <a:ext cx="8960400" cy="3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Quantum coherence and entanglement play functional roles in biological processes.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Examples: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Photosynthesis</a:t>
            </a:r>
            <a:r>
              <a:rPr lang="en-GB" sz="1600">
                <a:solidFill>
                  <a:schemeClr val="lt1"/>
                </a:solidFill>
              </a:rPr>
              <a:t> → coherent exciton transport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Avian magnetoreception</a:t>
            </a:r>
            <a:r>
              <a:rPr lang="en-GB" sz="1600">
                <a:solidFill>
                  <a:schemeClr val="lt1"/>
                </a:solidFill>
              </a:rPr>
              <a:t> → radical pair mechanism</a:t>
            </a:r>
            <a:endParaRPr sz="160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GB" sz="1600" b="1">
                <a:solidFill>
                  <a:schemeClr val="lt1"/>
                </a:solidFill>
              </a:rPr>
              <a:t>Enzyme reactions</a:t>
            </a:r>
            <a:r>
              <a:rPr lang="en-GB" sz="1600">
                <a:solidFill>
                  <a:schemeClr val="lt1"/>
                </a:solidFill>
              </a:rPr>
              <a:t> → quantum tunneling</a:t>
            </a:r>
            <a:br>
              <a:rPr lang="en-GB" sz="1600">
                <a:solidFill>
                  <a:schemeClr val="lt1"/>
                </a:solidFill>
              </a:rPr>
            </a:br>
            <a:r>
              <a:rPr lang="en-GB" sz="1600" b="1">
                <a:solidFill>
                  <a:schemeClr val="lt1"/>
                </a:solidFill>
              </a:rPr>
              <a:t>Olfaction (hypothesis)</a:t>
            </a:r>
            <a:r>
              <a:rPr lang="en-GB" sz="1600">
                <a:solidFill>
                  <a:schemeClr val="lt1"/>
                </a:solidFill>
              </a:rPr>
              <a:t> → vibrational sensing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331" name="Google Shape;3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950" y="3103250"/>
            <a:ext cx="3035925" cy="69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1400" y="3116950"/>
            <a:ext cx="2405225" cy="69332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2"/>
          <p:cNvSpPr txBox="1"/>
          <p:nvPr/>
        </p:nvSpPr>
        <p:spPr>
          <a:xfrm>
            <a:off x="1126613" y="3853800"/>
            <a:ext cx="2892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Photosynthetic coherence (density matrix form)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4784800" y="3940725"/>
            <a:ext cx="30360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Radical pair spin dynamics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35" name="Google Shape;335;p42"/>
          <p:cNvSpPr txBox="1"/>
          <p:nvPr/>
        </p:nvSpPr>
        <p:spPr>
          <a:xfrm>
            <a:off x="4167000" y="4647625"/>
            <a:ext cx="4885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Engel et al. (2007) · Ritz et al. · Lambert et al.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Limits, Open Questions, and the Road Ahead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1" name="Google Shape;341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How long can </a:t>
            </a:r>
            <a:r>
              <a:rPr lang="en-GB" sz="1500" b="1">
                <a:solidFill>
                  <a:schemeClr val="lt1"/>
                </a:solidFill>
              </a:rPr>
              <a:t>coherence</a:t>
            </a:r>
            <a:r>
              <a:rPr lang="en-GB" sz="1500">
                <a:solidFill>
                  <a:schemeClr val="lt1"/>
                </a:solidFill>
              </a:rPr>
              <a:t> survive in real systems?</a:t>
            </a:r>
            <a:br>
              <a:rPr lang="en-GB" sz="1500">
                <a:solidFill>
                  <a:schemeClr val="lt1"/>
                </a:solidFill>
              </a:rPr>
            </a:br>
            <a:endParaRPr sz="1500">
              <a:solidFill>
                <a:schemeClr val="lt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Can </a:t>
            </a:r>
            <a:r>
              <a:rPr lang="en-GB" sz="1500" b="1">
                <a:solidFill>
                  <a:schemeClr val="lt1"/>
                </a:solidFill>
              </a:rPr>
              <a:t>fault-tolerant quantum computing</a:t>
            </a:r>
            <a:r>
              <a:rPr lang="en-GB" sz="1500">
                <a:solidFill>
                  <a:schemeClr val="lt1"/>
                </a:solidFill>
              </a:rPr>
              <a:t> scale?</a:t>
            </a:r>
            <a:br>
              <a:rPr lang="en-GB" sz="1500">
                <a:solidFill>
                  <a:schemeClr val="lt1"/>
                </a:solidFill>
              </a:rPr>
            </a:br>
            <a:endParaRPr sz="1500">
              <a:solidFill>
                <a:schemeClr val="lt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What are the </a:t>
            </a:r>
            <a:r>
              <a:rPr lang="en-GB" sz="1500" b="1">
                <a:solidFill>
                  <a:schemeClr val="lt1"/>
                </a:solidFill>
              </a:rPr>
              <a:t>ultimate limits</a:t>
            </a:r>
            <a:r>
              <a:rPr lang="en-GB" sz="1500">
                <a:solidFill>
                  <a:schemeClr val="lt1"/>
                </a:solidFill>
              </a:rPr>
              <a:t> of quantum speedup?</a:t>
            </a:r>
            <a:br>
              <a:rPr lang="en-GB" sz="1500">
                <a:solidFill>
                  <a:schemeClr val="lt1"/>
                </a:solidFill>
              </a:rPr>
            </a:br>
            <a:endParaRPr sz="1500">
              <a:solidFill>
                <a:schemeClr val="lt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Does </a:t>
            </a:r>
            <a:r>
              <a:rPr lang="en-GB" sz="1500" b="1">
                <a:solidFill>
                  <a:schemeClr val="lt1"/>
                </a:solidFill>
              </a:rPr>
              <a:t>nature actively protect coherence</a:t>
            </a:r>
            <a:r>
              <a:rPr lang="en-GB" sz="1500">
                <a:solidFill>
                  <a:schemeClr val="lt1"/>
                </a:solidFill>
              </a:rPr>
              <a:t> (quantum biology)?</a:t>
            </a:r>
            <a:br>
              <a:rPr lang="en-GB" sz="1500">
                <a:solidFill>
                  <a:schemeClr val="lt1"/>
                </a:solidFill>
              </a:rPr>
            </a:br>
            <a:endParaRPr sz="1500">
              <a:solidFill>
                <a:schemeClr val="lt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 sz="1500">
                <a:solidFill>
                  <a:schemeClr val="lt1"/>
                </a:solidFill>
              </a:rPr>
              <a:t>Where does </a:t>
            </a:r>
            <a:r>
              <a:rPr lang="en-GB" sz="1500" b="1">
                <a:solidFill>
                  <a:schemeClr val="lt1"/>
                </a:solidFill>
              </a:rPr>
              <a:t>quantum → classical</a:t>
            </a:r>
            <a:r>
              <a:rPr lang="en-GB" sz="1500">
                <a:solidFill>
                  <a:schemeClr val="lt1"/>
                </a:solidFill>
              </a:rPr>
              <a:t> truly emerge?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1459325" y="4180050"/>
            <a:ext cx="71664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A9A9A9"/>
                </a:solidFill>
              </a:rPr>
              <a:t>Quantum Information · Open Quantum Systems · Complexity Theory</a:t>
            </a:r>
            <a:endParaRPr sz="1800">
              <a:solidFill>
                <a:srgbClr val="A9A9A9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>
            <a:spLocks noGrp="1"/>
          </p:cNvSpPr>
          <p:nvPr>
            <p:ph type="title"/>
          </p:nvPr>
        </p:nvSpPr>
        <p:spPr>
          <a:xfrm>
            <a:off x="387825" y="184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The Big Picture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8" name="Google Shape;348;p44"/>
          <p:cNvSpPr txBox="1">
            <a:spLocks noGrp="1"/>
          </p:cNvSpPr>
          <p:nvPr>
            <p:ph type="body" idx="1"/>
          </p:nvPr>
        </p:nvSpPr>
        <p:spPr>
          <a:xfrm>
            <a:off x="311700" y="756750"/>
            <a:ext cx="8520600" cy="3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Quantum mechanics is not just strange — it is fundamental, powerful, and limited.</a:t>
            </a:r>
            <a:endParaRPr dirty="0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dirty="0">
                <a:solidFill>
                  <a:schemeClr val="lt1"/>
                </a:solidFill>
              </a:rPr>
              <a:t>Quantum theory explains nature beyond classical intuition</a:t>
            </a:r>
            <a:endParaRPr dirty="0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dirty="0">
                <a:solidFill>
                  <a:schemeClr val="lt1"/>
                </a:solidFill>
              </a:rPr>
              <a:t>Interference &amp; entanglement enable new technologies</a:t>
            </a:r>
            <a:endParaRPr dirty="0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 dirty="0">
                <a:solidFill>
                  <a:schemeClr val="lt1"/>
                </a:solidFill>
              </a:rPr>
              <a:t>Decoherence sets fundamental limits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lt1"/>
                </a:solidFill>
              </a:rPr>
              <a:t>From light bulbs to quantum computers — the same theory governs it all.</a:t>
            </a:r>
            <a:endParaRPr i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C3D8-D088-CF88-14F1-9ADEF4FC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311700" y="386576"/>
            <a:ext cx="8520600" cy="5844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9E050-10A2-8ADF-F015-91129134A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45024"/>
            <a:ext cx="8520600" cy="442434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Representing</a:t>
            </a:r>
          </a:p>
          <a:p>
            <a:r>
              <a:rPr lang="en-US" dirty="0">
                <a:solidFill>
                  <a:schemeClr val="bg1"/>
                </a:solidFill>
              </a:rPr>
              <a:t>Shri OV Sheth </a:t>
            </a:r>
            <a:r>
              <a:rPr lang="en-US" dirty="0" err="1">
                <a:solidFill>
                  <a:schemeClr val="bg1"/>
                </a:solidFill>
              </a:rPr>
              <a:t>Lokvigyan</a:t>
            </a:r>
            <a:r>
              <a:rPr lang="en-US" dirty="0">
                <a:solidFill>
                  <a:schemeClr val="bg1"/>
                </a:solidFill>
              </a:rPr>
              <a:t> Kendra Rajkot</a:t>
            </a:r>
          </a:p>
          <a:p>
            <a:r>
              <a:rPr lang="en-US" sz="1600" dirty="0">
                <a:solidFill>
                  <a:schemeClr val="bg1"/>
                </a:solidFill>
              </a:rPr>
              <a:t>Dr. P C Vaidya Center for Astronomy and Astrophysics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Acknowledgment</a:t>
            </a:r>
          </a:p>
          <a:p>
            <a:r>
              <a:rPr lang="en-IN" dirty="0">
                <a:solidFill>
                  <a:schemeClr val="bg1"/>
                </a:solidFill>
              </a:rPr>
              <a:t>CA K T Hemani founder trustee of Saurashtra Education Foundation and OVS Lok Vigyan Kendra Rajkot</a:t>
            </a:r>
          </a:p>
          <a:p>
            <a:r>
              <a:rPr lang="en-IN" dirty="0">
                <a:solidFill>
                  <a:schemeClr val="bg1"/>
                </a:solidFill>
              </a:rPr>
              <a:t>Dr. </a:t>
            </a:r>
            <a:r>
              <a:rPr lang="en-IN" dirty="0" err="1">
                <a:solidFill>
                  <a:schemeClr val="bg1"/>
                </a:solidFill>
              </a:rPr>
              <a:t>Anamik</a:t>
            </a:r>
            <a:r>
              <a:rPr lang="en-IN" dirty="0">
                <a:solidFill>
                  <a:schemeClr val="bg1"/>
                </a:solidFill>
              </a:rPr>
              <a:t> Shah ex-Vice Chanceller of Saurashtra University</a:t>
            </a:r>
          </a:p>
          <a:p>
            <a:r>
              <a:rPr lang="en-IN" dirty="0">
                <a:solidFill>
                  <a:schemeClr val="bg1"/>
                </a:solidFill>
              </a:rPr>
              <a:t>Dr. Mihir Joshi Prof Emirates Atmiya University</a:t>
            </a:r>
          </a:p>
          <a:p>
            <a:r>
              <a:rPr lang="en-US" dirty="0">
                <a:solidFill>
                  <a:schemeClr val="bg1"/>
                </a:solidFill>
              </a:rPr>
              <a:t>Dr. </a:t>
            </a:r>
            <a:r>
              <a:rPr lang="en-US" dirty="0" err="1">
                <a:solidFill>
                  <a:schemeClr val="bg1"/>
                </a:solidFill>
              </a:rPr>
              <a:t>Rameshbhai</a:t>
            </a:r>
            <a:r>
              <a:rPr lang="en-US" dirty="0">
                <a:solidFill>
                  <a:schemeClr val="bg1"/>
                </a:solidFill>
              </a:rPr>
              <a:t> Bhayani Director OVS Lok Vigyan Kendra Rajkot who have inspired and supported me for research and study</a:t>
            </a:r>
          </a:p>
          <a:p>
            <a:r>
              <a:rPr lang="en-IN" dirty="0">
                <a:solidFill>
                  <a:schemeClr val="bg1"/>
                </a:solidFill>
              </a:rPr>
              <a:t>Minesh C. Meghani </a:t>
            </a:r>
            <a:r>
              <a:rPr lang="en-IN" dirty="0" err="1">
                <a:solidFill>
                  <a:schemeClr val="bg1"/>
                </a:solidFill>
              </a:rPr>
              <a:t>Center</a:t>
            </a:r>
            <a:r>
              <a:rPr lang="en-IN" dirty="0">
                <a:solidFill>
                  <a:schemeClr val="bg1"/>
                </a:solidFill>
              </a:rPr>
              <a:t> Coordinator of Shri OV Sheth Regional Science </a:t>
            </a:r>
            <a:r>
              <a:rPr lang="en-IN" dirty="0" err="1">
                <a:solidFill>
                  <a:schemeClr val="bg1"/>
                </a:solidFill>
              </a:rPr>
              <a:t>Center</a:t>
            </a:r>
            <a:r>
              <a:rPr lang="en-IN" dirty="0">
                <a:solidFill>
                  <a:schemeClr val="bg1"/>
                </a:solidFill>
              </a:rPr>
              <a:t> Rajkot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035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D735-FB09-657D-0263-E69145F31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44604" y="-54267"/>
            <a:ext cx="45719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4" name="Google Shape;349;p44">
            <a:extLst>
              <a:ext uri="{FF2B5EF4-FFF2-40B4-BE49-F238E27FC236}">
                <a16:creationId xmlns:a16="http://schemas.microsoft.com/office/drawing/2014/main" id="{6A1F9EC9-2196-C18A-8343-B8434FC55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568140"/>
            <a:ext cx="7315199" cy="200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800" b="1" dirty="0">
                <a:solidFill>
                  <a:srgbClr val="00FFFF"/>
                </a:solidFill>
              </a:rPr>
              <a:t>Thank you</a:t>
            </a:r>
            <a:br>
              <a:rPr lang="en-GB" sz="4800" b="1" dirty="0">
                <a:solidFill>
                  <a:srgbClr val="00FFFF"/>
                </a:solidFill>
              </a:rPr>
            </a:br>
            <a:r>
              <a:rPr lang="en-GB" sz="4800" b="1" dirty="0">
                <a:solidFill>
                  <a:srgbClr val="00FFFF"/>
                </a:solidFill>
              </a:rPr>
              <a:t> Questions welcome</a:t>
            </a:r>
            <a:endParaRPr sz="4800" b="1" dirty="0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2020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1061</Words>
  <Application>Microsoft Office PowerPoint</Application>
  <PresentationFormat>On-screen Show (16:9)</PresentationFormat>
  <Paragraphs>252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Arial</vt:lpstr>
      <vt:lpstr>Simple Light</vt:lpstr>
      <vt:lpstr>Understanding of Quantum Science and Technology</vt:lpstr>
      <vt:lpstr>Origin of Quantum Mechanics:</vt:lpstr>
      <vt:lpstr>Classical Theory of Black-Body Radiation</vt:lpstr>
      <vt:lpstr>Ultraviolet Catastrophe</vt:lpstr>
      <vt:lpstr>Planck’s Quantum Hypothesis (1900)</vt:lpstr>
      <vt:lpstr>PowerPoint Presentation</vt:lpstr>
      <vt:lpstr>From Classical Particles to Quantum Waves</vt:lpstr>
      <vt:lpstr>Quantum States, Dynamics, and Measurement</vt:lpstr>
      <vt:lpstr>Double Slit Experiment</vt:lpstr>
      <vt:lpstr>Light Takes Every Possible Path</vt:lpstr>
      <vt:lpstr>Derivation of Feynman Path Integral</vt:lpstr>
      <vt:lpstr>Light goes through all paths, but we only see Path of Least Action</vt:lpstr>
      <vt:lpstr>Mathematical Structure of Quantum Mechanics</vt:lpstr>
      <vt:lpstr>Quantum Computing</vt:lpstr>
      <vt:lpstr>Quantum Gates and Unitary Evolution</vt:lpstr>
      <vt:lpstr>Limits of Quantum Search (BBBV’s Theorem)</vt:lpstr>
      <vt:lpstr>Grover’s Algorithm: Geometric Interpretation</vt:lpstr>
      <vt:lpstr>PowerPoint Presentation</vt:lpstr>
      <vt:lpstr>Quantum Entanglement</vt:lpstr>
      <vt:lpstr>Non-Separability of Quantum States</vt:lpstr>
      <vt:lpstr>Bell Inequalities: Testing Classical Reality</vt:lpstr>
      <vt:lpstr>Entanglement as a Physical Resource</vt:lpstr>
      <vt:lpstr>Quantum Teleportation</vt:lpstr>
      <vt:lpstr>Decoherence: The Enemy of Quantum States</vt:lpstr>
      <vt:lpstr>Quantum Noise Channels</vt:lpstr>
      <vt:lpstr>PowerPoint Presentation</vt:lpstr>
      <vt:lpstr>PowerPoint Presentation</vt:lpstr>
      <vt:lpstr>Quantum Error Correction</vt:lpstr>
      <vt:lpstr>Two-Qubit Systems: The Minimal Quantum World</vt:lpstr>
      <vt:lpstr>Quantum Biology: Quantum Effects in Living Systems</vt:lpstr>
      <vt:lpstr>Limits, Open Questions, and the Road Ahead</vt:lpstr>
      <vt:lpstr>The Big Picture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Utsav Karia</cp:lastModifiedBy>
  <cp:revision>3</cp:revision>
  <dcterms:modified xsi:type="dcterms:W3CDTF">2025-12-29T08:24:29Z</dcterms:modified>
</cp:coreProperties>
</file>